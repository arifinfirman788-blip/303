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8095" y="160020"/>
            <a:ext cx="5080000" cy="5143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ts val="33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方正小标宋简体" panose="03000509000000000000" charset="-122"/>
              </a:rPr>
              <a:t>贵旅数网这一年</a:t>
            </a:r>
            <a:r>
              <a:rPr lang="en-US" altLang="zh-CN" sz="1600" b="1">
                <a:latin typeface="Times New Roman" panose="02020603050405020304"/>
                <a:ea typeface="方正小标宋简体" panose="03000509000000000000" charset="-122"/>
              </a:rPr>
              <a:t>          </a:t>
            </a: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&amp;</a:t>
            </a:r>
            <a:r>
              <a:rPr lang="en-US" altLang="zh-CN" sz="1600" b="1">
                <a:latin typeface="Times New Roman" panose="02020603050405020304"/>
                <a:ea typeface="方正小标宋简体" panose="03000509000000000000" charset="-122"/>
              </a:rPr>
              <a:t>           </a:t>
            </a:r>
            <a:r>
              <a:rPr lang="zh-CN" altLang="en-US" sz="1600" b="1">
                <a:latin typeface="Times New Roman" panose="02020603050405020304"/>
                <a:ea typeface="方正小标宋简体" panose="03000509000000000000" charset="-122"/>
              </a:rPr>
              <a:t>华创云信的很多年</a:t>
            </a:r>
            <a:endParaRPr lang="zh-CN" altLang="en-US" sz="1600" b="1">
              <a:latin typeface="Times New Roman" panose="02020603050405020304"/>
              <a:ea typeface="方正小标宋简体" panose="03000509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1820" y="937895"/>
            <a:ext cx="5149850" cy="460375"/>
          </a:xfrm>
          <a:prstGeom prst="rect">
            <a:avLst/>
          </a:prstGeom>
          <a:ln w="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p>
            <a:pPr marL="0" indent="0" algn="r" defTabSz="266700">
              <a:lnSpc>
                <a:spcPts val="288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>
                <a:latin typeface="Times New Roman" panose="02020603050405020304"/>
                <a:ea typeface="楷体_GB2312" panose="02010609030101010101" charset="-122"/>
              </a:rPr>
              <a:t>“</a:t>
            </a:r>
            <a:r>
              <a:rPr lang="zh-CN" altLang="en-US" sz="1600">
                <a:latin typeface="楷体_GB2312" panose="02010609030101010101" charset="-122"/>
                <a:ea typeface="楷体_GB2312" panose="02010609030101010101" charset="-122"/>
              </a:rPr>
              <a:t>黄小西</a:t>
            </a:r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”智能体矩阵的建设及运营</a:t>
            </a:r>
            <a:endParaRPr lang="zh-CN" altLang="en-US" sz="1600">
              <a:latin typeface="Times New Roman" panose="02020603050405020304"/>
              <a:ea typeface="楷体_GB2312" panose="0201060903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23710" y="937895"/>
            <a:ext cx="5116830" cy="460375"/>
          </a:xfrm>
          <a:prstGeom prst="rect">
            <a:avLst/>
          </a:prstGeom>
          <a:ln w="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p>
            <a:pPr marL="0" indent="0" algn="l" defTabSz="266700">
              <a:lnSpc>
                <a:spcPts val="288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sz="1600">
                <a:latin typeface="Times New Roman" panose="02020603050405020304"/>
                <a:ea typeface="楷体_GB2312" panose="02010609030101010101" charset="-122"/>
              </a:rPr>
              <a:t>人工智能、大数据、支付结算全栈技术支持</a:t>
            </a:r>
            <a:endParaRPr lang="zh-CN" sz="1600">
              <a:latin typeface="Times New Roman" panose="02020603050405020304"/>
              <a:ea typeface="楷体_GB2312" panose="02010609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06775" y="1460500"/>
            <a:ext cx="5598160" cy="4603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marL="0" indent="0" algn="ctr" defTabSz="266700">
              <a:lnSpc>
                <a:spcPts val="288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黄小西”智慧旅游品牌形象、宣传推广持续加强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2455" y="2139633"/>
            <a:ext cx="5080000" cy="829945"/>
          </a:xfrm>
          <a:prstGeom prst="rect">
            <a:avLst/>
          </a:prstGeom>
          <a:ln w="0">
            <a:solidFill>
              <a:schemeClr val="bg1">
                <a:lumMod val="50000"/>
              </a:schemeClr>
            </a:solidFill>
            <a:prstDash val="sysDot"/>
          </a:ln>
        </p:spPr>
        <p:txBody>
          <a:bodyPr>
            <a:spAutoFit/>
          </a:bodyPr>
          <a:p>
            <a:pPr marL="0" indent="0" algn="r" defTabSz="266700">
              <a:lnSpc>
                <a:spcPts val="288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已完成全省</a:t>
            </a:r>
            <a:r>
              <a:rPr lang="en-US" altLang="zh-CN" sz="1600">
                <a:latin typeface="Times New Roman" panose="02020603050405020304"/>
                <a:ea typeface="楷体_GB2312" panose="02010609030101010101" charset="-122"/>
              </a:rPr>
              <a:t>3A</a:t>
            </a:r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级以上景区、</a:t>
            </a:r>
            <a:r>
              <a:rPr lang="en-US" altLang="zh-CN" sz="1600">
                <a:latin typeface="Times New Roman" panose="02020603050405020304"/>
                <a:ea typeface="楷体_GB2312" panose="02010609030101010101" charset="-122"/>
              </a:rPr>
              <a:t>4</a:t>
            </a:r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星级以上酒店等标准化资源的全面接入，完善户外、探险、定制类旅游商品</a:t>
            </a:r>
            <a:endParaRPr lang="zh-CN" altLang="en-US" sz="1600">
              <a:latin typeface="Times New Roman" panose="02020603050405020304"/>
              <a:ea typeface="楷体_GB2312" panose="0201060903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12610" y="2139950"/>
            <a:ext cx="5027930" cy="829945"/>
          </a:xfrm>
          <a:prstGeom prst="rect">
            <a:avLst/>
          </a:prstGeom>
          <a:ln w="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p>
            <a:pPr marL="0" indent="0" algn="l" defTabSz="266700">
              <a:lnSpc>
                <a:spcPts val="288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sz="1600">
                <a:latin typeface="Times New Roman" panose="02020603050405020304"/>
                <a:ea typeface="楷体_GB2312" panose="02010609030101010101" charset="-122"/>
              </a:rPr>
              <a:t>旅游供应链金融服务的持续运营</a:t>
            </a:r>
            <a:endParaRPr lang="zh-CN" sz="1600">
              <a:latin typeface="Times New Roman" panose="02020603050405020304"/>
              <a:ea typeface="楷体_GB2312" panose="02010609030101010101" charset="-122"/>
            </a:endParaRPr>
          </a:p>
          <a:p>
            <a:pPr marL="0" indent="0" algn="l" defTabSz="266700">
              <a:lnSpc>
                <a:spcPts val="288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以化债为基础的大体量旅游门票产品的组织能力</a:t>
            </a:r>
            <a:endParaRPr lang="zh-CN" altLang="en-US" sz="1600">
              <a:latin typeface="Times New Roman" panose="02020603050405020304"/>
              <a:ea typeface="楷体_GB2312" panose="02010609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14090" y="3085465"/>
            <a:ext cx="5598160" cy="4603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lvl="0" algn="ctr" defTabSz="266700">
              <a:lnSpc>
                <a:spcPts val="2880"/>
              </a:lnSpc>
              <a:buClrTx/>
              <a:buSzTx/>
              <a:buFontTx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旅游商品的组织宽度不断拓展、深度持续下沉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2455" y="3934460"/>
            <a:ext cx="4974590" cy="583565"/>
          </a:xfrm>
          <a:prstGeom prst="rect">
            <a:avLst/>
          </a:prstGeom>
          <a:ln w="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p>
            <a:pPr algn="r" defTabSz="266700"/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逐渐成为贵旅集团打通各类平台的工具，链接集团内外各类产品及平台资源</a:t>
            </a:r>
            <a:endParaRPr lang="zh-CN" altLang="en-US" sz="1600">
              <a:latin typeface="Times New Roman" panose="02020603050405020304"/>
              <a:ea typeface="楷体_GB2312" panose="02010609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09765" y="3934460"/>
            <a:ext cx="4931410" cy="829945"/>
          </a:xfrm>
          <a:prstGeom prst="rect">
            <a:avLst/>
          </a:prstGeom>
          <a:ln w="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以加油站便利店运营为线索，组织各类便利商品</a:t>
            </a:r>
            <a:endParaRPr lang="zh-CN" altLang="en-US" sz="1600">
              <a:latin typeface="Times New Roman" panose="02020603050405020304"/>
              <a:ea typeface="楷体_GB2312" panose="02010609030101010101" charset="-122"/>
            </a:endParaRPr>
          </a:p>
          <a:p>
            <a:pPr defTabSz="266700"/>
            <a:r>
              <a:rPr lang="zh-CN" altLang="en-US" sz="1600">
                <a:latin typeface="Times New Roman" panose="02020603050405020304"/>
                <a:ea typeface="楷体_GB2312" panose="02010609030101010101" charset="-122"/>
              </a:rPr>
              <a:t>以白酒交易所标品、定制酒业务为契机，组织各类贵州好酒</a:t>
            </a:r>
            <a:endParaRPr lang="zh-CN" altLang="en-US" sz="1600">
              <a:latin typeface="Times New Roman" panose="02020603050405020304"/>
              <a:ea typeface="楷体_GB2312" panose="02010609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86480" y="4968875"/>
            <a:ext cx="5418455" cy="8299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lvl="0" algn="ctr" defTabSz="266700">
              <a:lnSpc>
                <a:spcPts val="2880"/>
              </a:lnSpc>
              <a:buClrTx/>
              <a:buSzTx/>
              <a:buFontTx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供应链组织能力逐步加强，突破旅游边界，向全场景升级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7" name="肘形连接符 16"/>
          <p:cNvCxnSpPr>
            <a:stCxn id="5" idx="2"/>
            <a:endCxn id="7" idx="1"/>
          </p:cNvCxnSpPr>
          <p:nvPr/>
        </p:nvCxnSpPr>
        <p:spPr>
          <a:xfrm rot="5400000" flipV="1">
            <a:off x="3140393" y="1424623"/>
            <a:ext cx="292735" cy="24003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6" idx="2"/>
            <a:endCxn id="7" idx="3"/>
          </p:cNvCxnSpPr>
          <p:nvPr/>
        </p:nvCxnSpPr>
        <p:spPr>
          <a:xfrm rot="5400000">
            <a:off x="9047480" y="1355725"/>
            <a:ext cx="292735" cy="3771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8" idx="2"/>
            <a:endCxn id="11" idx="1"/>
          </p:cNvCxnSpPr>
          <p:nvPr/>
        </p:nvCxnSpPr>
        <p:spPr>
          <a:xfrm rot="5400000" flipV="1">
            <a:off x="3150235" y="2951480"/>
            <a:ext cx="346075" cy="3816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10" idx="2"/>
            <a:endCxn id="11" idx="3"/>
          </p:cNvCxnSpPr>
          <p:nvPr/>
        </p:nvCxnSpPr>
        <p:spPr>
          <a:xfrm rot="5400000">
            <a:off x="9096375" y="2985770"/>
            <a:ext cx="346075" cy="3143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12" idx="2"/>
            <a:endCxn id="14" idx="1"/>
          </p:cNvCxnSpPr>
          <p:nvPr/>
        </p:nvCxnSpPr>
        <p:spPr>
          <a:xfrm rot="5400000" flipV="1">
            <a:off x="2900045" y="4697730"/>
            <a:ext cx="866140" cy="50673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3" idx="2"/>
            <a:endCxn id="14" idx="3"/>
          </p:cNvCxnSpPr>
          <p:nvPr/>
        </p:nvCxnSpPr>
        <p:spPr>
          <a:xfrm rot="5400000">
            <a:off x="8930323" y="4839018"/>
            <a:ext cx="619760" cy="4705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任意多边形: 形状 19"/>
          <p:cNvSpPr/>
          <p:nvPr/>
        </p:nvSpPr>
        <p:spPr>
          <a:xfrm rot="20820000">
            <a:off x="2265045" y="1553210"/>
            <a:ext cx="1440180" cy="546100"/>
          </a:xfrm>
          <a:custGeom>
            <a:avLst/>
            <a:gdLst>
              <a:gd name="connsiteX0" fmla="*/ 312234 w 6322741"/>
              <a:gd name="connsiteY0" fmla="*/ 67857 h 1985867"/>
              <a:gd name="connsiteX1" fmla="*/ 512956 w 6322741"/>
              <a:gd name="connsiteY1" fmla="*/ 45555 h 1985867"/>
              <a:gd name="connsiteX2" fmla="*/ 2375210 w 6322741"/>
              <a:gd name="connsiteY2" fmla="*/ 23252 h 1985867"/>
              <a:gd name="connsiteX3" fmla="*/ 4070195 w 6322741"/>
              <a:gd name="connsiteY3" fmla="*/ 950 h 1985867"/>
              <a:gd name="connsiteX4" fmla="*/ 5776332 w 6322741"/>
              <a:gd name="connsiteY4" fmla="*/ 23252 h 1985867"/>
              <a:gd name="connsiteX5" fmla="*/ 5865541 w 6322741"/>
              <a:gd name="connsiteY5" fmla="*/ 34404 h 1985867"/>
              <a:gd name="connsiteX6" fmla="*/ 5954751 w 6322741"/>
              <a:gd name="connsiteY6" fmla="*/ 56706 h 1985867"/>
              <a:gd name="connsiteX7" fmla="*/ 6122019 w 6322741"/>
              <a:gd name="connsiteY7" fmla="*/ 134765 h 1985867"/>
              <a:gd name="connsiteX8" fmla="*/ 6177776 w 6322741"/>
              <a:gd name="connsiteY8" fmla="*/ 179370 h 1985867"/>
              <a:gd name="connsiteX9" fmla="*/ 6222380 w 6322741"/>
              <a:gd name="connsiteY9" fmla="*/ 223974 h 1985867"/>
              <a:gd name="connsiteX10" fmla="*/ 6244683 w 6322741"/>
              <a:gd name="connsiteY10" fmla="*/ 268579 h 1985867"/>
              <a:gd name="connsiteX11" fmla="*/ 6266985 w 6322741"/>
              <a:gd name="connsiteY11" fmla="*/ 302033 h 1985867"/>
              <a:gd name="connsiteX12" fmla="*/ 6278137 w 6322741"/>
              <a:gd name="connsiteY12" fmla="*/ 402394 h 1985867"/>
              <a:gd name="connsiteX13" fmla="*/ 6289288 w 6322741"/>
              <a:gd name="connsiteY13" fmla="*/ 636570 h 1985867"/>
              <a:gd name="connsiteX14" fmla="*/ 6311590 w 6322741"/>
              <a:gd name="connsiteY14" fmla="*/ 748082 h 1985867"/>
              <a:gd name="connsiteX15" fmla="*/ 6322741 w 6322741"/>
              <a:gd name="connsiteY15" fmla="*/ 1015711 h 1985867"/>
              <a:gd name="connsiteX16" fmla="*/ 6311590 w 6322741"/>
              <a:gd name="connsiteY16" fmla="*/ 1506365 h 1985867"/>
              <a:gd name="connsiteX17" fmla="*/ 6255834 w 6322741"/>
              <a:gd name="connsiteY17" fmla="*/ 1617877 h 1985867"/>
              <a:gd name="connsiteX18" fmla="*/ 6155473 w 6322741"/>
              <a:gd name="connsiteY18" fmla="*/ 1762843 h 1985867"/>
              <a:gd name="connsiteX19" fmla="*/ 6110868 w 6322741"/>
              <a:gd name="connsiteY19" fmla="*/ 1796296 h 1985867"/>
              <a:gd name="connsiteX20" fmla="*/ 6077415 w 6322741"/>
              <a:gd name="connsiteY20" fmla="*/ 1818599 h 1985867"/>
              <a:gd name="connsiteX21" fmla="*/ 5887844 w 6322741"/>
              <a:gd name="connsiteY21" fmla="*/ 1863204 h 1985867"/>
              <a:gd name="connsiteX22" fmla="*/ 5597912 w 6322741"/>
              <a:gd name="connsiteY22" fmla="*/ 1874355 h 1985867"/>
              <a:gd name="connsiteX23" fmla="*/ 5419493 w 6322741"/>
              <a:gd name="connsiteY23" fmla="*/ 1885506 h 1985867"/>
              <a:gd name="connsiteX24" fmla="*/ 5029200 w 6322741"/>
              <a:gd name="connsiteY24" fmla="*/ 1952413 h 1985867"/>
              <a:gd name="connsiteX25" fmla="*/ 4204010 w 6322741"/>
              <a:gd name="connsiteY25" fmla="*/ 1985867 h 1985867"/>
              <a:gd name="connsiteX26" fmla="*/ 1962615 w 6322741"/>
              <a:gd name="connsiteY26" fmla="*/ 1963565 h 1985867"/>
              <a:gd name="connsiteX27" fmla="*/ 1282390 w 6322741"/>
              <a:gd name="connsiteY27" fmla="*/ 1918960 h 1985867"/>
              <a:gd name="connsiteX28" fmla="*/ 624468 w 6322741"/>
              <a:gd name="connsiteY28" fmla="*/ 1896657 h 1985867"/>
              <a:gd name="connsiteX29" fmla="*/ 490654 w 6322741"/>
              <a:gd name="connsiteY29" fmla="*/ 1885506 h 1985867"/>
              <a:gd name="connsiteX30" fmla="*/ 301083 w 6322741"/>
              <a:gd name="connsiteY30" fmla="*/ 1852052 h 1985867"/>
              <a:gd name="connsiteX31" fmla="*/ 200722 w 6322741"/>
              <a:gd name="connsiteY31" fmla="*/ 1840901 h 1985867"/>
              <a:gd name="connsiteX32" fmla="*/ 66907 w 6322741"/>
              <a:gd name="connsiteY32" fmla="*/ 1707087 h 1985867"/>
              <a:gd name="connsiteX33" fmla="*/ 0 w 6322741"/>
              <a:gd name="connsiteY33" fmla="*/ 1595574 h 1985867"/>
              <a:gd name="connsiteX34" fmla="*/ 11151 w 6322741"/>
              <a:gd name="connsiteY34" fmla="*/ 770384 h 1985867"/>
              <a:gd name="connsiteX35" fmla="*/ 22302 w 6322741"/>
              <a:gd name="connsiteY35" fmla="*/ 658872 h 1985867"/>
              <a:gd name="connsiteX36" fmla="*/ 33454 w 6322741"/>
              <a:gd name="connsiteY36" fmla="*/ 368940 h 1985867"/>
              <a:gd name="connsiteX37" fmla="*/ 66907 w 6322741"/>
              <a:gd name="connsiteY37" fmla="*/ 268579 h 1985867"/>
              <a:gd name="connsiteX38" fmla="*/ 78059 w 6322741"/>
              <a:gd name="connsiteY38" fmla="*/ 235126 h 1985867"/>
              <a:gd name="connsiteX39" fmla="*/ 100361 w 6322741"/>
              <a:gd name="connsiteY39" fmla="*/ 212823 h 1985867"/>
              <a:gd name="connsiteX40" fmla="*/ 122663 w 6322741"/>
              <a:gd name="connsiteY40" fmla="*/ 179370 h 1985867"/>
              <a:gd name="connsiteX41" fmla="*/ 189571 w 6322741"/>
              <a:gd name="connsiteY41" fmla="*/ 123613 h 1985867"/>
              <a:gd name="connsiteX42" fmla="*/ 256478 w 6322741"/>
              <a:gd name="connsiteY42" fmla="*/ 79009 h 1985867"/>
              <a:gd name="connsiteX43" fmla="*/ 301083 w 6322741"/>
              <a:gd name="connsiteY43" fmla="*/ 67857 h 1985867"/>
              <a:gd name="connsiteX44" fmla="*/ 312234 w 6322741"/>
              <a:gd name="connsiteY44" fmla="*/ 67857 h 1985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322741" h="1985867">
                <a:moveTo>
                  <a:pt x="312234" y="67857"/>
                </a:moveTo>
                <a:cubicBezTo>
                  <a:pt x="388218" y="55193"/>
                  <a:pt x="426042" y="47012"/>
                  <a:pt x="512956" y="45555"/>
                </a:cubicBezTo>
                <a:lnTo>
                  <a:pt x="2375210" y="23252"/>
                </a:lnTo>
                <a:cubicBezTo>
                  <a:pt x="3042364" y="3036"/>
                  <a:pt x="3135862" y="-2485"/>
                  <a:pt x="4070195" y="950"/>
                </a:cubicBezTo>
                <a:lnTo>
                  <a:pt x="5776332" y="23252"/>
                </a:lnTo>
                <a:cubicBezTo>
                  <a:pt x="5806068" y="26969"/>
                  <a:pt x="5836087" y="28881"/>
                  <a:pt x="5865541" y="34404"/>
                </a:cubicBezTo>
                <a:cubicBezTo>
                  <a:pt x="5895668" y="40053"/>
                  <a:pt x="5925672" y="47013"/>
                  <a:pt x="5954751" y="56706"/>
                </a:cubicBezTo>
                <a:cubicBezTo>
                  <a:pt x="6017075" y="77481"/>
                  <a:pt x="6069459" y="97973"/>
                  <a:pt x="6122019" y="134765"/>
                </a:cubicBezTo>
                <a:cubicBezTo>
                  <a:pt x="6141518" y="148414"/>
                  <a:pt x="6159987" y="163557"/>
                  <a:pt x="6177776" y="179370"/>
                </a:cubicBezTo>
                <a:cubicBezTo>
                  <a:pt x="6193491" y="193339"/>
                  <a:pt x="6209764" y="207153"/>
                  <a:pt x="6222380" y="223974"/>
                </a:cubicBezTo>
                <a:cubicBezTo>
                  <a:pt x="6232354" y="237273"/>
                  <a:pt x="6236436" y="254146"/>
                  <a:pt x="6244683" y="268579"/>
                </a:cubicBezTo>
                <a:cubicBezTo>
                  <a:pt x="6251332" y="280215"/>
                  <a:pt x="6259551" y="290882"/>
                  <a:pt x="6266985" y="302033"/>
                </a:cubicBezTo>
                <a:cubicBezTo>
                  <a:pt x="6270702" y="335487"/>
                  <a:pt x="6275898" y="368809"/>
                  <a:pt x="6278137" y="402394"/>
                </a:cubicBezTo>
                <a:cubicBezTo>
                  <a:pt x="6283335" y="480368"/>
                  <a:pt x="6281761" y="558786"/>
                  <a:pt x="6289288" y="636570"/>
                </a:cubicBezTo>
                <a:cubicBezTo>
                  <a:pt x="6292939" y="674301"/>
                  <a:pt x="6311590" y="748082"/>
                  <a:pt x="6311590" y="748082"/>
                </a:cubicBezTo>
                <a:cubicBezTo>
                  <a:pt x="6315307" y="837292"/>
                  <a:pt x="6322741" y="926424"/>
                  <a:pt x="6322741" y="1015711"/>
                </a:cubicBezTo>
                <a:cubicBezTo>
                  <a:pt x="6322741" y="1179305"/>
                  <a:pt x="6318400" y="1342913"/>
                  <a:pt x="6311590" y="1506365"/>
                </a:cubicBezTo>
                <a:cubicBezTo>
                  <a:pt x="6309547" y="1555406"/>
                  <a:pt x="6281642" y="1575939"/>
                  <a:pt x="6255834" y="1617877"/>
                </a:cubicBezTo>
                <a:cubicBezTo>
                  <a:pt x="6209780" y="1692713"/>
                  <a:pt x="6217863" y="1700453"/>
                  <a:pt x="6155473" y="1762843"/>
                </a:cubicBezTo>
                <a:cubicBezTo>
                  <a:pt x="6142331" y="1775985"/>
                  <a:pt x="6125991" y="1785493"/>
                  <a:pt x="6110868" y="1796296"/>
                </a:cubicBezTo>
                <a:cubicBezTo>
                  <a:pt x="6099962" y="1804086"/>
                  <a:pt x="6089402" y="1812605"/>
                  <a:pt x="6077415" y="1818599"/>
                </a:cubicBezTo>
                <a:cubicBezTo>
                  <a:pt x="6018749" y="1847932"/>
                  <a:pt x="5952738" y="1859387"/>
                  <a:pt x="5887844" y="1863204"/>
                </a:cubicBezTo>
                <a:cubicBezTo>
                  <a:pt x="5791295" y="1868883"/>
                  <a:pt x="5694518" y="1869755"/>
                  <a:pt x="5597912" y="1874355"/>
                </a:cubicBezTo>
                <a:cubicBezTo>
                  <a:pt x="5538390" y="1877189"/>
                  <a:pt x="5478966" y="1881789"/>
                  <a:pt x="5419493" y="1885506"/>
                </a:cubicBezTo>
                <a:cubicBezTo>
                  <a:pt x="5289395" y="1907808"/>
                  <a:pt x="5161102" y="1947435"/>
                  <a:pt x="5029200" y="1952413"/>
                </a:cubicBezTo>
                <a:lnTo>
                  <a:pt x="4204010" y="1985867"/>
                </a:lnTo>
                <a:lnTo>
                  <a:pt x="1962615" y="1963565"/>
                </a:lnTo>
                <a:cubicBezTo>
                  <a:pt x="1715059" y="1959387"/>
                  <a:pt x="1522976" y="1935745"/>
                  <a:pt x="1282390" y="1918960"/>
                </a:cubicBezTo>
                <a:cubicBezTo>
                  <a:pt x="1039999" y="1902049"/>
                  <a:pt x="897182" y="1903309"/>
                  <a:pt x="624468" y="1896657"/>
                </a:cubicBezTo>
                <a:cubicBezTo>
                  <a:pt x="579863" y="1892940"/>
                  <a:pt x="534993" y="1891622"/>
                  <a:pt x="490654" y="1885506"/>
                </a:cubicBezTo>
                <a:cubicBezTo>
                  <a:pt x="427089" y="1876738"/>
                  <a:pt x="364504" y="1861809"/>
                  <a:pt x="301083" y="1852052"/>
                </a:cubicBezTo>
                <a:cubicBezTo>
                  <a:pt x="267815" y="1846934"/>
                  <a:pt x="234176" y="1844618"/>
                  <a:pt x="200722" y="1840901"/>
                </a:cubicBezTo>
                <a:cubicBezTo>
                  <a:pt x="63029" y="1749106"/>
                  <a:pt x="128627" y="1816812"/>
                  <a:pt x="66907" y="1707087"/>
                </a:cubicBezTo>
                <a:cubicBezTo>
                  <a:pt x="45655" y="1669306"/>
                  <a:pt x="0" y="1595574"/>
                  <a:pt x="0" y="1595574"/>
                </a:cubicBezTo>
                <a:cubicBezTo>
                  <a:pt x="3717" y="1320511"/>
                  <a:pt x="4603" y="1045395"/>
                  <a:pt x="11151" y="770384"/>
                </a:cubicBezTo>
                <a:cubicBezTo>
                  <a:pt x="12040" y="733039"/>
                  <a:pt x="20230" y="696171"/>
                  <a:pt x="22302" y="658872"/>
                </a:cubicBezTo>
                <a:cubicBezTo>
                  <a:pt x="27667" y="562305"/>
                  <a:pt x="27421" y="465467"/>
                  <a:pt x="33454" y="368940"/>
                </a:cubicBezTo>
                <a:cubicBezTo>
                  <a:pt x="39369" y="274305"/>
                  <a:pt x="36473" y="329446"/>
                  <a:pt x="66907" y="268579"/>
                </a:cubicBezTo>
                <a:cubicBezTo>
                  <a:pt x="72164" y="258066"/>
                  <a:pt x="72011" y="245205"/>
                  <a:pt x="78059" y="235126"/>
                </a:cubicBezTo>
                <a:cubicBezTo>
                  <a:pt x="83468" y="226111"/>
                  <a:pt x="93793" y="221033"/>
                  <a:pt x="100361" y="212823"/>
                </a:cubicBezTo>
                <a:cubicBezTo>
                  <a:pt x="108733" y="202358"/>
                  <a:pt x="114291" y="189835"/>
                  <a:pt x="122663" y="179370"/>
                </a:cubicBezTo>
                <a:cubicBezTo>
                  <a:pt x="139270" y="158611"/>
                  <a:pt x="169856" y="137414"/>
                  <a:pt x="189571" y="123613"/>
                </a:cubicBezTo>
                <a:cubicBezTo>
                  <a:pt x="211530" y="108242"/>
                  <a:pt x="232504" y="90996"/>
                  <a:pt x="256478" y="79009"/>
                </a:cubicBezTo>
                <a:cubicBezTo>
                  <a:pt x="270186" y="72155"/>
                  <a:pt x="286544" y="72704"/>
                  <a:pt x="301083" y="67857"/>
                </a:cubicBezTo>
                <a:cubicBezTo>
                  <a:pt x="308968" y="65229"/>
                  <a:pt x="315951" y="60423"/>
                  <a:pt x="312234" y="67857"/>
                </a:cubicBezTo>
                <a:close/>
              </a:path>
            </a:pathLst>
          </a:cu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gradFill>
                  <a:gsLst>
                    <a:gs pos="42000">
                      <a:srgbClr val="EC5763"/>
                    </a:gs>
                    <a:gs pos="0">
                      <a:srgbClr val="F28F97"/>
                    </a:gs>
                    <a:gs pos="100000">
                      <a:srgbClr val="E51E2E"/>
                    </a:gs>
                  </a:gsLst>
                  <a:lin ang="5400000" scaled="1"/>
                </a:gradFill>
                <a:cs typeface="+mn-ea"/>
                <a:sym typeface="+mn-lt"/>
              </a:rPr>
              <a:t>有品牌</a:t>
            </a:r>
            <a:r>
              <a:rPr lang="en-US" altLang="zh-CN" sz="2000">
                <a:cs typeface="+mn-ea"/>
                <a:sym typeface="+mn-lt"/>
              </a:rPr>
              <a:t> </a:t>
            </a:r>
            <a:endParaRPr lang="en-US" altLang="zh-CN" sz="2000">
              <a:cs typeface="+mn-ea"/>
              <a:sym typeface="+mn-lt"/>
            </a:endParaRPr>
          </a:p>
        </p:txBody>
      </p:sp>
      <p:sp>
        <p:nvSpPr>
          <p:cNvPr id="25" name="任意多边形: 形状 19"/>
          <p:cNvSpPr/>
          <p:nvPr/>
        </p:nvSpPr>
        <p:spPr>
          <a:xfrm rot="20820000">
            <a:off x="2392680" y="3240405"/>
            <a:ext cx="1440180" cy="546100"/>
          </a:xfrm>
          <a:custGeom>
            <a:avLst/>
            <a:gdLst>
              <a:gd name="connsiteX0" fmla="*/ 312234 w 6322741"/>
              <a:gd name="connsiteY0" fmla="*/ 67857 h 1985867"/>
              <a:gd name="connsiteX1" fmla="*/ 512956 w 6322741"/>
              <a:gd name="connsiteY1" fmla="*/ 45555 h 1985867"/>
              <a:gd name="connsiteX2" fmla="*/ 2375210 w 6322741"/>
              <a:gd name="connsiteY2" fmla="*/ 23252 h 1985867"/>
              <a:gd name="connsiteX3" fmla="*/ 4070195 w 6322741"/>
              <a:gd name="connsiteY3" fmla="*/ 950 h 1985867"/>
              <a:gd name="connsiteX4" fmla="*/ 5776332 w 6322741"/>
              <a:gd name="connsiteY4" fmla="*/ 23252 h 1985867"/>
              <a:gd name="connsiteX5" fmla="*/ 5865541 w 6322741"/>
              <a:gd name="connsiteY5" fmla="*/ 34404 h 1985867"/>
              <a:gd name="connsiteX6" fmla="*/ 5954751 w 6322741"/>
              <a:gd name="connsiteY6" fmla="*/ 56706 h 1985867"/>
              <a:gd name="connsiteX7" fmla="*/ 6122019 w 6322741"/>
              <a:gd name="connsiteY7" fmla="*/ 134765 h 1985867"/>
              <a:gd name="connsiteX8" fmla="*/ 6177776 w 6322741"/>
              <a:gd name="connsiteY8" fmla="*/ 179370 h 1985867"/>
              <a:gd name="connsiteX9" fmla="*/ 6222380 w 6322741"/>
              <a:gd name="connsiteY9" fmla="*/ 223974 h 1985867"/>
              <a:gd name="connsiteX10" fmla="*/ 6244683 w 6322741"/>
              <a:gd name="connsiteY10" fmla="*/ 268579 h 1985867"/>
              <a:gd name="connsiteX11" fmla="*/ 6266985 w 6322741"/>
              <a:gd name="connsiteY11" fmla="*/ 302033 h 1985867"/>
              <a:gd name="connsiteX12" fmla="*/ 6278137 w 6322741"/>
              <a:gd name="connsiteY12" fmla="*/ 402394 h 1985867"/>
              <a:gd name="connsiteX13" fmla="*/ 6289288 w 6322741"/>
              <a:gd name="connsiteY13" fmla="*/ 636570 h 1985867"/>
              <a:gd name="connsiteX14" fmla="*/ 6311590 w 6322741"/>
              <a:gd name="connsiteY14" fmla="*/ 748082 h 1985867"/>
              <a:gd name="connsiteX15" fmla="*/ 6322741 w 6322741"/>
              <a:gd name="connsiteY15" fmla="*/ 1015711 h 1985867"/>
              <a:gd name="connsiteX16" fmla="*/ 6311590 w 6322741"/>
              <a:gd name="connsiteY16" fmla="*/ 1506365 h 1985867"/>
              <a:gd name="connsiteX17" fmla="*/ 6255834 w 6322741"/>
              <a:gd name="connsiteY17" fmla="*/ 1617877 h 1985867"/>
              <a:gd name="connsiteX18" fmla="*/ 6155473 w 6322741"/>
              <a:gd name="connsiteY18" fmla="*/ 1762843 h 1985867"/>
              <a:gd name="connsiteX19" fmla="*/ 6110868 w 6322741"/>
              <a:gd name="connsiteY19" fmla="*/ 1796296 h 1985867"/>
              <a:gd name="connsiteX20" fmla="*/ 6077415 w 6322741"/>
              <a:gd name="connsiteY20" fmla="*/ 1818599 h 1985867"/>
              <a:gd name="connsiteX21" fmla="*/ 5887844 w 6322741"/>
              <a:gd name="connsiteY21" fmla="*/ 1863204 h 1985867"/>
              <a:gd name="connsiteX22" fmla="*/ 5597912 w 6322741"/>
              <a:gd name="connsiteY22" fmla="*/ 1874355 h 1985867"/>
              <a:gd name="connsiteX23" fmla="*/ 5419493 w 6322741"/>
              <a:gd name="connsiteY23" fmla="*/ 1885506 h 1985867"/>
              <a:gd name="connsiteX24" fmla="*/ 5029200 w 6322741"/>
              <a:gd name="connsiteY24" fmla="*/ 1952413 h 1985867"/>
              <a:gd name="connsiteX25" fmla="*/ 4204010 w 6322741"/>
              <a:gd name="connsiteY25" fmla="*/ 1985867 h 1985867"/>
              <a:gd name="connsiteX26" fmla="*/ 1962615 w 6322741"/>
              <a:gd name="connsiteY26" fmla="*/ 1963565 h 1985867"/>
              <a:gd name="connsiteX27" fmla="*/ 1282390 w 6322741"/>
              <a:gd name="connsiteY27" fmla="*/ 1918960 h 1985867"/>
              <a:gd name="connsiteX28" fmla="*/ 624468 w 6322741"/>
              <a:gd name="connsiteY28" fmla="*/ 1896657 h 1985867"/>
              <a:gd name="connsiteX29" fmla="*/ 490654 w 6322741"/>
              <a:gd name="connsiteY29" fmla="*/ 1885506 h 1985867"/>
              <a:gd name="connsiteX30" fmla="*/ 301083 w 6322741"/>
              <a:gd name="connsiteY30" fmla="*/ 1852052 h 1985867"/>
              <a:gd name="connsiteX31" fmla="*/ 200722 w 6322741"/>
              <a:gd name="connsiteY31" fmla="*/ 1840901 h 1985867"/>
              <a:gd name="connsiteX32" fmla="*/ 66907 w 6322741"/>
              <a:gd name="connsiteY32" fmla="*/ 1707087 h 1985867"/>
              <a:gd name="connsiteX33" fmla="*/ 0 w 6322741"/>
              <a:gd name="connsiteY33" fmla="*/ 1595574 h 1985867"/>
              <a:gd name="connsiteX34" fmla="*/ 11151 w 6322741"/>
              <a:gd name="connsiteY34" fmla="*/ 770384 h 1985867"/>
              <a:gd name="connsiteX35" fmla="*/ 22302 w 6322741"/>
              <a:gd name="connsiteY35" fmla="*/ 658872 h 1985867"/>
              <a:gd name="connsiteX36" fmla="*/ 33454 w 6322741"/>
              <a:gd name="connsiteY36" fmla="*/ 368940 h 1985867"/>
              <a:gd name="connsiteX37" fmla="*/ 66907 w 6322741"/>
              <a:gd name="connsiteY37" fmla="*/ 268579 h 1985867"/>
              <a:gd name="connsiteX38" fmla="*/ 78059 w 6322741"/>
              <a:gd name="connsiteY38" fmla="*/ 235126 h 1985867"/>
              <a:gd name="connsiteX39" fmla="*/ 100361 w 6322741"/>
              <a:gd name="connsiteY39" fmla="*/ 212823 h 1985867"/>
              <a:gd name="connsiteX40" fmla="*/ 122663 w 6322741"/>
              <a:gd name="connsiteY40" fmla="*/ 179370 h 1985867"/>
              <a:gd name="connsiteX41" fmla="*/ 189571 w 6322741"/>
              <a:gd name="connsiteY41" fmla="*/ 123613 h 1985867"/>
              <a:gd name="connsiteX42" fmla="*/ 256478 w 6322741"/>
              <a:gd name="connsiteY42" fmla="*/ 79009 h 1985867"/>
              <a:gd name="connsiteX43" fmla="*/ 301083 w 6322741"/>
              <a:gd name="connsiteY43" fmla="*/ 67857 h 1985867"/>
              <a:gd name="connsiteX44" fmla="*/ 312234 w 6322741"/>
              <a:gd name="connsiteY44" fmla="*/ 67857 h 1985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322741" h="1985867">
                <a:moveTo>
                  <a:pt x="312234" y="67857"/>
                </a:moveTo>
                <a:cubicBezTo>
                  <a:pt x="388218" y="55193"/>
                  <a:pt x="426042" y="47012"/>
                  <a:pt x="512956" y="45555"/>
                </a:cubicBezTo>
                <a:lnTo>
                  <a:pt x="2375210" y="23252"/>
                </a:lnTo>
                <a:cubicBezTo>
                  <a:pt x="3042364" y="3036"/>
                  <a:pt x="3135862" y="-2485"/>
                  <a:pt x="4070195" y="950"/>
                </a:cubicBezTo>
                <a:lnTo>
                  <a:pt x="5776332" y="23252"/>
                </a:lnTo>
                <a:cubicBezTo>
                  <a:pt x="5806068" y="26969"/>
                  <a:pt x="5836087" y="28881"/>
                  <a:pt x="5865541" y="34404"/>
                </a:cubicBezTo>
                <a:cubicBezTo>
                  <a:pt x="5895668" y="40053"/>
                  <a:pt x="5925672" y="47013"/>
                  <a:pt x="5954751" y="56706"/>
                </a:cubicBezTo>
                <a:cubicBezTo>
                  <a:pt x="6017075" y="77481"/>
                  <a:pt x="6069459" y="97973"/>
                  <a:pt x="6122019" y="134765"/>
                </a:cubicBezTo>
                <a:cubicBezTo>
                  <a:pt x="6141518" y="148414"/>
                  <a:pt x="6159987" y="163557"/>
                  <a:pt x="6177776" y="179370"/>
                </a:cubicBezTo>
                <a:cubicBezTo>
                  <a:pt x="6193491" y="193339"/>
                  <a:pt x="6209764" y="207153"/>
                  <a:pt x="6222380" y="223974"/>
                </a:cubicBezTo>
                <a:cubicBezTo>
                  <a:pt x="6232354" y="237273"/>
                  <a:pt x="6236436" y="254146"/>
                  <a:pt x="6244683" y="268579"/>
                </a:cubicBezTo>
                <a:cubicBezTo>
                  <a:pt x="6251332" y="280215"/>
                  <a:pt x="6259551" y="290882"/>
                  <a:pt x="6266985" y="302033"/>
                </a:cubicBezTo>
                <a:cubicBezTo>
                  <a:pt x="6270702" y="335487"/>
                  <a:pt x="6275898" y="368809"/>
                  <a:pt x="6278137" y="402394"/>
                </a:cubicBezTo>
                <a:cubicBezTo>
                  <a:pt x="6283335" y="480368"/>
                  <a:pt x="6281761" y="558786"/>
                  <a:pt x="6289288" y="636570"/>
                </a:cubicBezTo>
                <a:cubicBezTo>
                  <a:pt x="6292939" y="674301"/>
                  <a:pt x="6311590" y="748082"/>
                  <a:pt x="6311590" y="748082"/>
                </a:cubicBezTo>
                <a:cubicBezTo>
                  <a:pt x="6315307" y="837292"/>
                  <a:pt x="6322741" y="926424"/>
                  <a:pt x="6322741" y="1015711"/>
                </a:cubicBezTo>
                <a:cubicBezTo>
                  <a:pt x="6322741" y="1179305"/>
                  <a:pt x="6318400" y="1342913"/>
                  <a:pt x="6311590" y="1506365"/>
                </a:cubicBezTo>
                <a:cubicBezTo>
                  <a:pt x="6309547" y="1555406"/>
                  <a:pt x="6281642" y="1575939"/>
                  <a:pt x="6255834" y="1617877"/>
                </a:cubicBezTo>
                <a:cubicBezTo>
                  <a:pt x="6209780" y="1692713"/>
                  <a:pt x="6217863" y="1700453"/>
                  <a:pt x="6155473" y="1762843"/>
                </a:cubicBezTo>
                <a:cubicBezTo>
                  <a:pt x="6142331" y="1775985"/>
                  <a:pt x="6125991" y="1785493"/>
                  <a:pt x="6110868" y="1796296"/>
                </a:cubicBezTo>
                <a:cubicBezTo>
                  <a:pt x="6099962" y="1804086"/>
                  <a:pt x="6089402" y="1812605"/>
                  <a:pt x="6077415" y="1818599"/>
                </a:cubicBezTo>
                <a:cubicBezTo>
                  <a:pt x="6018749" y="1847932"/>
                  <a:pt x="5952738" y="1859387"/>
                  <a:pt x="5887844" y="1863204"/>
                </a:cubicBezTo>
                <a:cubicBezTo>
                  <a:pt x="5791295" y="1868883"/>
                  <a:pt x="5694518" y="1869755"/>
                  <a:pt x="5597912" y="1874355"/>
                </a:cubicBezTo>
                <a:cubicBezTo>
                  <a:pt x="5538390" y="1877189"/>
                  <a:pt x="5478966" y="1881789"/>
                  <a:pt x="5419493" y="1885506"/>
                </a:cubicBezTo>
                <a:cubicBezTo>
                  <a:pt x="5289395" y="1907808"/>
                  <a:pt x="5161102" y="1947435"/>
                  <a:pt x="5029200" y="1952413"/>
                </a:cubicBezTo>
                <a:lnTo>
                  <a:pt x="4204010" y="1985867"/>
                </a:lnTo>
                <a:lnTo>
                  <a:pt x="1962615" y="1963565"/>
                </a:lnTo>
                <a:cubicBezTo>
                  <a:pt x="1715059" y="1959387"/>
                  <a:pt x="1522976" y="1935745"/>
                  <a:pt x="1282390" y="1918960"/>
                </a:cubicBezTo>
                <a:cubicBezTo>
                  <a:pt x="1039999" y="1902049"/>
                  <a:pt x="897182" y="1903309"/>
                  <a:pt x="624468" y="1896657"/>
                </a:cubicBezTo>
                <a:cubicBezTo>
                  <a:pt x="579863" y="1892940"/>
                  <a:pt x="534993" y="1891622"/>
                  <a:pt x="490654" y="1885506"/>
                </a:cubicBezTo>
                <a:cubicBezTo>
                  <a:pt x="427089" y="1876738"/>
                  <a:pt x="364504" y="1861809"/>
                  <a:pt x="301083" y="1852052"/>
                </a:cubicBezTo>
                <a:cubicBezTo>
                  <a:pt x="267815" y="1846934"/>
                  <a:pt x="234176" y="1844618"/>
                  <a:pt x="200722" y="1840901"/>
                </a:cubicBezTo>
                <a:cubicBezTo>
                  <a:pt x="63029" y="1749106"/>
                  <a:pt x="128627" y="1816812"/>
                  <a:pt x="66907" y="1707087"/>
                </a:cubicBezTo>
                <a:cubicBezTo>
                  <a:pt x="45655" y="1669306"/>
                  <a:pt x="0" y="1595574"/>
                  <a:pt x="0" y="1595574"/>
                </a:cubicBezTo>
                <a:cubicBezTo>
                  <a:pt x="3717" y="1320511"/>
                  <a:pt x="4603" y="1045395"/>
                  <a:pt x="11151" y="770384"/>
                </a:cubicBezTo>
                <a:cubicBezTo>
                  <a:pt x="12040" y="733039"/>
                  <a:pt x="20230" y="696171"/>
                  <a:pt x="22302" y="658872"/>
                </a:cubicBezTo>
                <a:cubicBezTo>
                  <a:pt x="27667" y="562305"/>
                  <a:pt x="27421" y="465467"/>
                  <a:pt x="33454" y="368940"/>
                </a:cubicBezTo>
                <a:cubicBezTo>
                  <a:pt x="39369" y="274305"/>
                  <a:pt x="36473" y="329446"/>
                  <a:pt x="66907" y="268579"/>
                </a:cubicBezTo>
                <a:cubicBezTo>
                  <a:pt x="72164" y="258066"/>
                  <a:pt x="72011" y="245205"/>
                  <a:pt x="78059" y="235126"/>
                </a:cubicBezTo>
                <a:cubicBezTo>
                  <a:pt x="83468" y="226111"/>
                  <a:pt x="93793" y="221033"/>
                  <a:pt x="100361" y="212823"/>
                </a:cubicBezTo>
                <a:cubicBezTo>
                  <a:pt x="108733" y="202358"/>
                  <a:pt x="114291" y="189835"/>
                  <a:pt x="122663" y="179370"/>
                </a:cubicBezTo>
                <a:cubicBezTo>
                  <a:pt x="139270" y="158611"/>
                  <a:pt x="169856" y="137414"/>
                  <a:pt x="189571" y="123613"/>
                </a:cubicBezTo>
                <a:cubicBezTo>
                  <a:pt x="211530" y="108242"/>
                  <a:pt x="232504" y="90996"/>
                  <a:pt x="256478" y="79009"/>
                </a:cubicBezTo>
                <a:cubicBezTo>
                  <a:pt x="270186" y="72155"/>
                  <a:pt x="286544" y="72704"/>
                  <a:pt x="301083" y="67857"/>
                </a:cubicBezTo>
                <a:cubicBezTo>
                  <a:pt x="308968" y="65229"/>
                  <a:pt x="315951" y="60423"/>
                  <a:pt x="312234" y="67857"/>
                </a:cubicBezTo>
                <a:close/>
              </a:path>
            </a:pathLst>
          </a:cu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gradFill>
                  <a:gsLst>
                    <a:gs pos="42000">
                      <a:srgbClr val="EC5763"/>
                    </a:gs>
                    <a:gs pos="0">
                      <a:srgbClr val="F28F97"/>
                    </a:gs>
                    <a:gs pos="100000">
                      <a:srgbClr val="E51E2E"/>
                    </a:gs>
                  </a:gsLst>
                  <a:lin ang="5400000" scaled="1"/>
                </a:gradFill>
                <a:cs typeface="+mn-ea"/>
                <a:sym typeface="+mn-lt"/>
              </a:rPr>
              <a:t>深产品</a:t>
            </a:r>
            <a:r>
              <a:rPr lang="en-US" altLang="zh-CN" sz="2000">
                <a:cs typeface="+mn-ea"/>
                <a:sym typeface="+mn-lt"/>
              </a:rPr>
              <a:t> </a:t>
            </a:r>
            <a:endParaRPr lang="en-US" altLang="zh-CN" sz="2000">
              <a:cs typeface="+mn-ea"/>
              <a:sym typeface="+mn-lt"/>
            </a:endParaRPr>
          </a:p>
        </p:txBody>
      </p:sp>
      <p:sp>
        <p:nvSpPr>
          <p:cNvPr id="26" name="任意多边形: 形状 19"/>
          <p:cNvSpPr/>
          <p:nvPr/>
        </p:nvSpPr>
        <p:spPr>
          <a:xfrm rot="20820000">
            <a:off x="2393315" y="4865370"/>
            <a:ext cx="1440180" cy="546100"/>
          </a:xfrm>
          <a:custGeom>
            <a:avLst/>
            <a:gdLst>
              <a:gd name="connsiteX0" fmla="*/ 312234 w 6322741"/>
              <a:gd name="connsiteY0" fmla="*/ 67857 h 1985867"/>
              <a:gd name="connsiteX1" fmla="*/ 512956 w 6322741"/>
              <a:gd name="connsiteY1" fmla="*/ 45555 h 1985867"/>
              <a:gd name="connsiteX2" fmla="*/ 2375210 w 6322741"/>
              <a:gd name="connsiteY2" fmla="*/ 23252 h 1985867"/>
              <a:gd name="connsiteX3" fmla="*/ 4070195 w 6322741"/>
              <a:gd name="connsiteY3" fmla="*/ 950 h 1985867"/>
              <a:gd name="connsiteX4" fmla="*/ 5776332 w 6322741"/>
              <a:gd name="connsiteY4" fmla="*/ 23252 h 1985867"/>
              <a:gd name="connsiteX5" fmla="*/ 5865541 w 6322741"/>
              <a:gd name="connsiteY5" fmla="*/ 34404 h 1985867"/>
              <a:gd name="connsiteX6" fmla="*/ 5954751 w 6322741"/>
              <a:gd name="connsiteY6" fmla="*/ 56706 h 1985867"/>
              <a:gd name="connsiteX7" fmla="*/ 6122019 w 6322741"/>
              <a:gd name="connsiteY7" fmla="*/ 134765 h 1985867"/>
              <a:gd name="connsiteX8" fmla="*/ 6177776 w 6322741"/>
              <a:gd name="connsiteY8" fmla="*/ 179370 h 1985867"/>
              <a:gd name="connsiteX9" fmla="*/ 6222380 w 6322741"/>
              <a:gd name="connsiteY9" fmla="*/ 223974 h 1985867"/>
              <a:gd name="connsiteX10" fmla="*/ 6244683 w 6322741"/>
              <a:gd name="connsiteY10" fmla="*/ 268579 h 1985867"/>
              <a:gd name="connsiteX11" fmla="*/ 6266985 w 6322741"/>
              <a:gd name="connsiteY11" fmla="*/ 302033 h 1985867"/>
              <a:gd name="connsiteX12" fmla="*/ 6278137 w 6322741"/>
              <a:gd name="connsiteY12" fmla="*/ 402394 h 1985867"/>
              <a:gd name="connsiteX13" fmla="*/ 6289288 w 6322741"/>
              <a:gd name="connsiteY13" fmla="*/ 636570 h 1985867"/>
              <a:gd name="connsiteX14" fmla="*/ 6311590 w 6322741"/>
              <a:gd name="connsiteY14" fmla="*/ 748082 h 1985867"/>
              <a:gd name="connsiteX15" fmla="*/ 6322741 w 6322741"/>
              <a:gd name="connsiteY15" fmla="*/ 1015711 h 1985867"/>
              <a:gd name="connsiteX16" fmla="*/ 6311590 w 6322741"/>
              <a:gd name="connsiteY16" fmla="*/ 1506365 h 1985867"/>
              <a:gd name="connsiteX17" fmla="*/ 6255834 w 6322741"/>
              <a:gd name="connsiteY17" fmla="*/ 1617877 h 1985867"/>
              <a:gd name="connsiteX18" fmla="*/ 6155473 w 6322741"/>
              <a:gd name="connsiteY18" fmla="*/ 1762843 h 1985867"/>
              <a:gd name="connsiteX19" fmla="*/ 6110868 w 6322741"/>
              <a:gd name="connsiteY19" fmla="*/ 1796296 h 1985867"/>
              <a:gd name="connsiteX20" fmla="*/ 6077415 w 6322741"/>
              <a:gd name="connsiteY20" fmla="*/ 1818599 h 1985867"/>
              <a:gd name="connsiteX21" fmla="*/ 5887844 w 6322741"/>
              <a:gd name="connsiteY21" fmla="*/ 1863204 h 1985867"/>
              <a:gd name="connsiteX22" fmla="*/ 5597912 w 6322741"/>
              <a:gd name="connsiteY22" fmla="*/ 1874355 h 1985867"/>
              <a:gd name="connsiteX23" fmla="*/ 5419493 w 6322741"/>
              <a:gd name="connsiteY23" fmla="*/ 1885506 h 1985867"/>
              <a:gd name="connsiteX24" fmla="*/ 5029200 w 6322741"/>
              <a:gd name="connsiteY24" fmla="*/ 1952413 h 1985867"/>
              <a:gd name="connsiteX25" fmla="*/ 4204010 w 6322741"/>
              <a:gd name="connsiteY25" fmla="*/ 1985867 h 1985867"/>
              <a:gd name="connsiteX26" fmla="*/ 1962615 w 6322741"/>
              <a:gd name="connsiteY26" fmla="*/ 1963565 h 1985867"/>
              <a:gd name="connsiteX27" fmla="*/ 1282390 w 6322741"/>
              <a:gd name="connsiteY27" fmla="*/ 1918960 h 1985867"/>
              <a:gd name="connsiteX28" fmla="*/ 624468 w 6322741"/>
              <a:gd name="connsiteY28" fmla="*/ 1896657 h 1985867"/>
              <a:gd name="connsiteX29" fmla="*/ 490654 w 6322741"/>
              <a:gd name="connsiteY29" fmla="*/ 1885506 h 1985867"/>
              <a:gd name="connsiteX30" fmla="*/ 301083 w 6322741"/>
              <a:gd name="connsiteY30" fmla="*/ 1852052 h 1985867"/>
              <a:gd name="connsiteX31" fmla="*/ 200722 w 6322741"/>
              <a:gd name="connsiteY31" fmla="*/ 1840901 h 1985867"/>
              <a:gd name="connsiteX32" fmla="*/ 66907 w 6322741"/>
              <a:gd name="connsiteY32" fmla="*/ 1707087 h 1985867"/>
              <a:gd name="connsiteX33" fmla="*/ 0 w 6322741"/>
              <a:gd name="connsiteY33" fmla="*/ 1595574 h 1985867"/>
              <a:gd name="connsiteX34" fmla="*/ 11151 w 6322741"/>
              <a:gd name="connsiteY34" fmla="*/ 770384 h 1985867"/>
              <a:gd name="connsiteX35" fmla="*/ 22302 w 6322741"/>
              <a:gd name="connsiteY35" fmla="*/ 658872 h 1985867"/>
              <a:gd name="connsiteX36" fmla="*/ 33454 w 6322741"/>
              <a:gd name="connsiteY36" fmla="*/ 368940 h 1985867"/>
              <a:gd name="connsiteX37" fmla="*/ 66907 w 6322741"/>
              <a:gd name="connsiteY37" fmla="*/ 268579 h 1985867"/>
              <a:gd name="connsiteX38" fmla="*/ 78059 w 6322741"/>
              <a:gd name="connsiteY38" fmla="*/ 235126 h 1985867"/>
              <a:gd name="connsiteX39" fmla="*/ 100361 w 6322741"/>
              <a:gd name="connsiteY39" fmla="*/ 212823 h 1985867"/>
              <a:gd name="connsiteX40" fmla="*/ 122663 w 6322741"/>
              <a:gd name="connsiteY40" fmla="*/ 179370 h 1985867"/>
              <a:gd name="connsiteX41" fmla="*/ 189571 w 6322741"/>
              <a:gd name="connsiteY41" fmla="*/ 123613 h 1985867"/>
              <a:gd name="connsiteX42" fmla="*/ 256478 w 6322741"/>
              <a:gd name="connsiteY42" fmla="*/ 79009 h 1985867"/>
              <a:gd name="connsiteX43" fmla="*/ 301083 w 6322741"/>
              <a:gd name="connsiteY43" fmla="*/ 67857 h 1985867"/>
              <a:gd name="connsiteX44" fmla="*/ 312234 w 6322741"/>
              <a:gd name="connsiteY44" fmla="*/ 67857 h 1985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322741" h="1985867">
                <a:moveTo>
                  <a:pt x="312234" y="67857"/>
                </a:moveTo>
                <a:cubicBezTo>
                  <a:pt x="388218" y="55193"/>
                  <a:pt x="426042" y="47012"/>
                  <a:pt x="512956" y="45555"/>
                </a:cubicBezTo>
                <a:lnTo>
                  <a:pt x="2375210" y="23252"/>
                </a:lnTo>
                <a:cubicBezTo>
                  <a:pt x="3042364" y="3036"/>
                  <a:pt x="3135862" y="-2485"/>
                  <a:pt x="4070195" y="950"/>
                </a:cubicBezTo>
                <a:lnTo>
                  <a:pt x="5776332" y="23252"/>
                </a:lnTo>
                <a:cubicBezTo>
                  <a:pt x="5806068" y="26969"/>
                  <a:pt x="5836087" y="28881"/>
                  <a:pt x="5865541" y="34404"/>
                </a:cubicBezTo>
                <a:cubicBezTo>
                  <a:pt x="5895668" y="40053"/>
                  <a:pt x="5925672" y="47013"/>
                  <a:pt x="5954751" y="56706"/>
                </a:cubicBezTo>
                <a:cubicBezTo>
                  <a:pt x="6017075" y="77481"/>
                  <a:pt x="6069459" y="97973"/>
                  <a:pt x="6122019" y="134765"/>
                </a:cubicBezTo>
                <a:cubicBezTo>
                  <a:pt x="6141518" y="148414"/>
                  <a:pt x="6159987" y="163557"/>
                  <a:pt x="6177776" y="179370"/>
                </a:cubicBezTo>
                <a:cubicBezTo>
                  <a:pt x="6193491" y="193339"/>
                  <a:pt x="6209764" y="207153"/>
                  <a:pt x="6222380" y="223974"/>
                </a:cubicBezTo>
                <a:cubicBezTo>
                  <a:pt x="6232354" y="237273"/>
                  <a:pt x="6236436" y="254146"/>
                  <a:pt x="6244683" y="268579"/>
                </a:cubicBezTo>
                <a:cubicBezTo>
                  <a:pt x="6251332" y="280215"/>
                  <a:pt x="6259551" y="290882"/>
                  <a:pt x="6266985" y="302033"/>
                </a:cubicBezTo>
                <a:cubicBezTo>
                  <a:pt x="6270702" y="335487"/>
                  <a:pt x="6275898" y="368809"/>
                  <a:pt x="6278137" y="402394"/>
                </a:cubicBezTo>
                <a:cubicBezTo>
                  <a:pt x="6283335" y="480368"/>
                  <a:pt x="6281761" y="558786"/>
                  <a:pt x="6289288" y="636570"/>
                </a:cubicBezTo>
                <a:cubicBezTo>
                  <a:pt x="6292939" y="674301"/>
                  <a:pt x="6311590" y="748082"/>
                  <a:pt x="6311590" y="748082"/>
                </a:cubicBezTo>
                <a:cubicBezTo>
                  <a:pt x="6315307" y="837292"/>
                  <a:pt x="6322741" y="926424"/>
                  <a:pt x="6322741" y="1015711"/>
                </a:cubicBezTo>
                <a:cubicBezTo>
                  <a:pt x="6322741" y="1179305"/>
                  <a:pt x="6318400" y="1342913"/>
                  <a:pt x="6311590" y="1506365"/>
                </a:cubicBezTo>
                <a:cubicBezTo>
                  <a:pt x="6309547" y="1555406"/>
                  <a:pt x="6281642" y="1575939"/>
                  <a:pt x="6255834" y="1617877"/>
                </a:cubicBezTo>
                <a:cubicBezTo>
                  <a:pt x="6209780" y="1692713"/>
                  <a:pt x="6217863" y="1700453"/>
                  <a:pt x="6155473" y="1762843"/>
                </a:cubicBezTo>
                <a:cubicBezTo>
                  <a:pt x="6142331" y="1775985"/>
                  <a:pt x="6125991" y="1785493"/>
                  <a:pt x="6110868" y="1796296"/>
                </a:cubicBezTo>
                <a:cubicBezTo>
                  <a:pt x="6099962" y="1804086"/>
                  <a:pt x="6089402" y="1812605"/>
                  <a:pt x="6077415" y="1818599"/>
                </a:cubicBezTo>
                <a:cubicBezTo>
                  <a:pt x="6018749" y="1847932"/>
                  <a:pt x="5952738" y="1859387"/>
                  <a:pt x="5887844" y="1863204"/>
                </a:cubicBezTo>
                <a:cubicBezTo>
                  <a:pt x="5791295" y="1868883"/>
                  <a:pt x="5694518" y="1869755"/>
                  <a:pt x="5597912" y="1874355"/>
                </a:cubicBezTo>
                <a:cubicBezTo>
                  <a:pt x="5538390" y="1877189"/>
                  <a:pt x="5478966" y="1881789"/>
                  <a:pt x="5419493" y="1885506"/>
                </a:cubicBezTo>
                <a:cubicBezTo>
                  <a:pt x="5289395" y="1907808"/>
                  <a:pt x="5161102" y="1947435"/>
                  <a:pt x="5029200" y="1952413"/>
                </a:cubicBezTo>
                <a:lnTo>
                  <a:pt x="4204010" y="1985867"/>
                </a:lnTo>
                <a:lnTo>
                  <a:pt x="1962615" y="1963565"/>
                </a:lnTo>
                <a:cubicBezTo>
                  <a:pt x="1715059" y="1959387"/>
                  <a:pt x="1522976" y="1935745"/>
                  <a:pt x="1282390" y="1918960"/>
                </a:cubicBezTo>
                <a:cubicBezTo>
                  <a:pt x="1039999" y="1902049"/>
                  <a:pt x="897182" y="1903309"/>
                  <a:pt x="624468" y="1896657"/>
                </a:cubicBezTo>
                <a:cubicBezTo>
                  <a:pt x="579863" y="1892940"/>
                  <a:pt x="534993" y="1891622"/>
                  <a:pt x="490654" y="1885506"/>
                </a:cubicBezTo>
                <a:cubicBezTo>
                  <a:pt x="427089" y="1876738"/>
                  <a:pt x="364504" y="1861809"/>
                  <a:pt x="301083" y="1852052"/>
                </a:cubicBezTo>
                <a:cubicBezTo>
                  <a:pt x="267815" y="1846934"/>
                  <a:pt x="234176" y="1844618"/>
                  <a:pt x="200722" y="1840901"/>
                </a:cubicBezTo>
                <a:cubicBezTo>
                  <a:pt x="63029" y="1749106"/>
                  <a:pt x="128627" y="1816812"/>
                  <a:pt x="66907" y="1707087"/>
                </a:cubicBezTo>
                <a:cubicBezTo>
                  <a:pt x="45655" y="1669306"/>
                  <a:pt x="0" y="1595574"/>
                  <a:pt x="0" y="1595574"/>
                </a:cubicBezTo>
                <a:cubicBezTo>
                  <a:pt x="3717" y="1320511"/>
                  <a:pt x="4603" y="1045395"/>
                  <a:pt x="11151" y="770384"/>
                </a:cubicBezTo>
                <a:cubicBezTo>
                  <a:pt x="12040" y="733039"/>
                  <a:pt x="20230" y="696171"/>
                  <a:pt x="22302" y="658872"/>
                </a:cubicBezTo>
                <a:cubicBezTo>
                  <a:pt x="27667" y="562305"/>
                  <a:pt x="27421" y="465467"/>
                  <a:pt x="33454" y="368940"/>
                </a:cubicBezTo>
                <a:cubicBezTo>
                  <a:pt x="39369" y="274305"/>
                  <a:pt x="36473" y="329446"/>
                  <a:pt x="66907" y="268579"/>
                </a:cubicBezTo>
                <a:cubicBezTo>
                  <a:pt x="72164" y="258066"/>
                  <a:pt x="72011" y="245205"/>
                  <a:pt x="78059" y="235126"/>
                </a:cubicBezTo>
                <a:cubicBezTo>
                  <a:pt x="83468" y="226111"/>
                  <a:pt x="93793" y="221033"/>
                  <a:pt x="100361" y="212823"/>
                </a:cubicBezTo>
                <a:cubicBezTo>
                  <a:pt x="108733" y="202358"/>
                  <a:pt x="114291" y="189835"/>
                  <a:pt x="122663" y="179370"/>
                </a:cubicBezTo>
                <a:cubicBezTo>
                  <a:pt x="139270" y="158611"/>
                  <a:pt x="169856" y="137414"/>
                  <a:pt x="189571" y="123613"/>
                </a:cubicBezTo>
                <a:cubicBezTo>
                  <a:pt x="211530" y="108242"/>
                  <a:pt x="232504" y="90996"/>
                  <a:pt x="256478" y="79009"/>
                </a:cubicBezTo>
                <a:cubicBezTo>
                  <a:pt x="270186" y="72155"/>
                  <a:pt x="286544" y="72704"/>
                  <a:pt x="301083" y="67857"/>
                </a:cubicBezTo>
                <a:cubicBezTo>
                  <a:pt x="308968" y="65229"/>
                  <a:pt x="315951" y="60423"/>
                  <a:pt x="312234" y="67857"/>
                </a:cubicBezTo>
                <a:close/>
              </a:path>
            </a:pathLst>
          </a:cu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>
                <a:gradFill>
                  <a:gsLst>
                    <a:gs pos="42000">
                      <a:srgbClr val="EC5763"/>
                    </a:gs>
                    <a:gs pos="0">
                      <a:srgbClr val="F28F97"/>
                    </a:gs>
                    <a:gs pos="100000">
                      <a:srgbClr val="E51E2E"/>
                    </a:gs>
                  </a:gsLst>
                  <a:lin ang="5400000" scaled="1"/>
                </a:gradFill>
                <a:cs typeface="+mn-ea"/>
                <a:sym typeface="+mn-lt"/>
              </a:rPr>
              <a:t>宽供应链</a:t>
            </a:r>
            <a:endParaRPr lang="zh-CN" altLang="en-US" sz="2000">
              <a:gradFill>
                <a:gsLst>
                  <a:gs pos="42000">
                    <a:srgbClr val="EC5763"/>
                  </a:gs>
                  <a:gs pos="0">
                    <a:srgbClr val="F28F97"/>
                  </a:gs>
                  <a:gs pos="100000">
                    <a:srgbClr val="E51E2E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方正小标宋简体</vt:lpstr>
      <vt:lpstr>Times New Roman</vt:lpstr>
      <vt:lpstr>楷体_GB2312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马榕</cp:lastModifiedBy>
  <cp:revision>161</cp:revision>
  <dcterms:created xsi:type="dcterms:W3CDTF">2019-06-19T02:08:00Z</dcterms:created>
  <dcterms:modified xsi:type="dcterms:W3CDTF">2026-03-03T12:16:00Z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1F5002A6E17F4F43A0A7001AECEA75DE_11</vt:lpwstr>
  </property>
</Properties>
</file>